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87" r:id="rId3"/>
    <p:sldId id="295" r:id="rId5"/>
    <p:sldId id="296" r:id="rId6"/>
    <p:sldId id="297" r:id="rId7"/>
    <p:sldId id="318" r:id="rId8"/>
    <p:sldId id="298" r:id="rId9"/>
    <p:sldId id="299" r:id="rId10"/>
    <p:sldId id="300" r:id="rId11"/>
    <p:sldId id="301" r:id="rId12"/>
    <p:sldId id="302" r:id="rId13"/>
    <p:sldId id="303" r:id="rId14"/>
    <p:sldId id="306" r:id="rId15"/>
    <p:sldId id="304" r:id="rId16"/>
    <p:sldId id="305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5" r:id="rId25"/>
    <p:sldId id="314" r:id="rId26"/>
    <p:sldId id="317" r:id="rId27"/>
    <p:sldId id="294" r:id="rId28"/>
  </p:sldIdLst>
  <p:sldSz cx="18288000" cy="10287000"/>
  <p:notesSz cx="6858000" cy="9144000"/>
  <p:embeddedFontLst>
    <p:embeddedFont>
      <p:font typeface="Calibri" panose="020F0502020204030204" pitchFamily="34" charset="0"/>
      <p:regular r:id="rId33"/>
    </p:embeddedFont>
    <p:embeddedFont>
      <p:font typeface="Calibri Light" panose="020F0302020204030204" charset="0"/>
      <p:regular r:id="rId34"/>
      <p: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24" autoAdjust="0"/>
  </p:normalViewPr>
  <p:slideViewPr>
    <p:cSldViewPr snapToGrid="0" showGuides="1">
      <p:cViewPr varScale="1">
        <p:scale>
          <a:sx n="41" d="100"/>
          <a:sy n="41" d="100"/>
        </p:scale>
        <p:origin x="82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6B784-4FB6-471C-91EA-1AAA7047F172}" type="slidenum">
              <a:rPr lang="en-IN" smtClean="0"/>
            </a:fld>
            <a:endParaRPr lang="en-IN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dirty="0" err="1"/>
              <a:t>xvs</a:t>
            </a:r>
            <a:endParaRPr lang="en-IN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12033-2EDF-405D-A660-8698D41E1567}" type="datetime1">
              <a:rPr lang="en-US" smtClean="0"/>
            </a:fld>
            <a:endParaRPr lang="en-I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SAD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hf hd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4A78-AB98-4C27-A03B-1FDB5F943EB5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0544-B2CB-480A-8E68-8A818093FCE5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21569-787D-4B28-BF58-C15BD049FF4C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9255-858F-4E3D-94A1-E1E39F87E4E8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212C-96E6-4A1C-BD8B-5A9E1F64C4D6}" type="datetime4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3FEEA-94A0-4780-8034-6B4F50182C72}" type="datetime4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5A61ED53-1557-48CE-8123-0F97BD6F5650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48DB-39AD-497D-8330-7463C2179DE1}" type="datetime4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3E0C0-228A-4082-81D2-A22D1B3A4D51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8729-B38B-4E7B-A4F9-C7D61D129B30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04A8CDA6-3F51-4CAD-8EC3-2E80C1A81474}" type="datetime4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DEPARTMENT OF COMPUTER SCIENCE &amp; ENGINEERING   / PROJECT TITLE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594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26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58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8905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973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85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49805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16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" descr="C:\Users\Sharad\Desktop\download veltech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26102" y="0"/>
            <a:ext cx="4295554" cy="1438275"/>
          </a:xfrm>
          <a:prstGeom prst="rect">
            <a:avLst/>
          </a:prstGeom>
          <a:noFill/>
        </p:spPr>
      </p:pic>
      <p:sp>
        <p:nvSpPr>
          <p:cNvPr id="22" name="Rectangle 21"/>
          <p:cNvSpPr/>
          <p:nvPr/>
        </p:nvSpPr>
        <p:spPr>
          <a:xfrm>
            <a:off x="602672" y="2009983"/>
            <a:ext cx="17415164" cy="3130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marR="5080" algn="ctr">
              <a:lnSpc>
                <a:spcPct val="102000"/>
              </a:lnSpc>
              <a:spcBef>
                <a:spcPts val="70"/>
              </a:spcBef>
            </a:pP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</a:t>
            </a:r>
            <a:r>
              <a:rPr lang="en-IN"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endParaRPr lang="en-IN" sz="2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02000"/>
              </a:lnSpc>
              <a:spcBef>
                <a:spcPts val="70"/>
              </a:spcBef>
            </a:pP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 </a:t>
            </a:r>
            <a:endParaRPr lang="en-IN" sz="2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02000"/>
              </a:lnSpc>
              <a:spcBef>
                <a:spcPts val="7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10214CS601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-1</a:t>
            </a:r>
            <a:endParaRPr lang="en-IN" sz="2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02000"/>
              </a:lnSpc>
              <a:spcBef>
                <a:spcPts val="70"/>
              </a:spcBef>
            </a:pP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SEMESTER(2024-2025)  </a:t>
            </a:r>
            <a:endParaRPr lang="en-IN" sz="2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02000"/>
              </a:lnSpc>
              <a:spcBef>
                <a:spcPts val="70"/>
              </a:spcBef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REVIEW-1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819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819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819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819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r>
              <a:rPr lang="en-IN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3"/>
          <p:cNvSpPr txBox="1"/>
          <p:nvPr/>
        </p:nvSpPr>
        <p:spPr>
          <a:xfrm>
            <a:off x="15740698" y="27597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1727" y="7704404"/>
            <a:ext cx="9144000" cy="10147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B.YUVARAJREDDY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5882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23UECS0687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T.TARUN VENKATA SIVA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5653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UECS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1218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3.T.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6542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)(2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3UECS0899</a:t>
            </a:r>
            <a:r>
              <a:rPr lang="en-IN" sz="2000" dirty="0"/>
              <a:t>)</a:t>
            </a:r>
            <a:endParaRPr lang="en-IN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351841" y="7003473"/>
            <a:ext cx="4344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258371" y="6583970"/>
            <a:ext cx="3168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884301" y="7199210"/>
            <a:ext cx="58841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/>
              <a:t>Dr.S.AMUTHA.ME.PhD</a:t>
            </a:r>
            <a:endParaRPr lang="en-IN" sz="2000" dirty="0"/>
          </a:p>
          <a:p>
            <a:r>
              <a:rPr lang="en-IN" sz="2000" dirty="0"/>
              <a:t>Professor</a:t>
            </a:r>
            <a:endParaRPr lang="en-IN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627A-24AB-481F-9D74-76C2593C9111}" type="datetime4">
              <a:rPr lang="en-US" smtClean="0"/>
            </a:fld>
            <a:endParaRPr lang="en-US"/>
          </a:p>
        </p:txBody>
      </p:sp>
      <p:pic>
        <p:nvPicPr>
          <p:cNvPr id="13" name="Picture 2" descr="C:\Users\Sharad\Desktop\Logo-Final-A vel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97269" y="293828"/>
            <a:ext cx="1160907" cy="12232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  </a:t>
            </a:r>
            <a:r>
              <a:rPr lang="en-IN" dirty="0"/>
              <a:t>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0490" y="1003866"/>
            <a:ext cx="1652154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THE PROJECT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METHODOLOGIES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90413" y="389207"/>
            <a:ext cx="15653289" cy="8770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Purpose:</a:t>
            </a:r>
            <a:r>
              <a:rPr lang="en-US" sz="2800" dirty="0"/>
              <a:t> The primary purpose of this study is to develop and evaluate a deep learning model     for the classification of paddy </a:t>
            </a:r>
            <a:r>
              <a:rPr lang="en-US" sz="2800" dirty="0" err="1"/>
              <a:t>diseases.Implement</a:t>
            </a:r>
            <a:r>
              <a:rPr lang="en-US" sz="2800" dirty="0"/>
              <a:t> a deep learning model and Evaluate the model’s performance.</a:t>
            </a:r>
            <a:r>
              <a:rPr lang="en-IN" sz="2800" dirty="0"/>
              <a:t> </a:t>
            </a:r>
            <a:endParaRPr lang="en-IN" sz="2800" dirty="0"/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Method:</a:t>
            </a:r>
            <a:r>
              <a:rPr lang="en-US" sz="2800" dirty="0"/>
              <a:t> Data Collection, Data Preprocessing, Model Development, Evaluation, Deployment.</a:t>
            </a:r>
            <a:r>
              <a:rPr lang="en-IN" sz="2800" dirty="0"/>
              <a:t> </a:t>
            </a:r>
            <a:endParaRPr lang="en-IN" sz="2800" dirty="0"/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Result:</a:t>
            </a:r>
            <a:r>
              <a:rPr lang="en-US" sz="2800" dirty="0"/>
              <a:t> The deep learning model was trained on a diverse dataset of paddy images and achieved notable results in classifying various </a:t>
            </a:r>
            <a:r>
              <a:rPr lang="en-US" sz="2800" dirty="0" err="1"/>
              <a:t>diseases.Key</a:t>
            </a:r>
            <a:r>
              <a:rPr lang="en-US" sz="2800" dirty="0"/>
              <a:t> findings </a:t>
            </a:r>
            <a:r>
              <a:rPr lang="en-US" sz="2800" dirty="0" err="1"/>
              <a:t>include:Accuracy</a:t>
            </a:r>
            <a:r>
              <a:rPr lang="en-US" sz="2800" dirty="0"/>
              <a:t>, Precision and Recall.</a:t>
            </a:r>
            <a:endParaRPr lang="en-IN" sz="2800" dirty="0"/>
          </a:p>
          <a:p>
            <a:pPr lvl="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 Conclusion:</a:t>
            </a:r>
            <a:r>
              <a:rPr lang="en-US" sz="2800" dirty="0"/>
              <a:t> The model’s high accuracy and reliable performance suggest that deep learning can be a valuable tool for automating disease detection in agriculture. Integrating such technology into agricultural practices can enhance early disease detection, improve yield management, and support sustainable farming practices.</a:t>
            </a:r>
            <a:endParaRPr lang="en-IN" sz="2800" dirty="0"/>
          </a:p>
          <a:p>
            <a:pPr lvl="1" algn="just">
              <a:lnSpc>
                <a:spcPct val="150000"/>
              </a:lnSpc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45921" y="451550"/>
            <a:ext cx="14890771" cy="6955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Aim of the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</a:t>
            </a: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t: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project’s primary goal is to develop a deep learning model for the detection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classification of paddy crop diseases using transfer learning and image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all of the work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done in deep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Scope of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</a:t>
            </a: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</a:t>
            </a: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project’s goal is to help increase yields by preventing crop devastation. Many farmers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wish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accept advanced agriculture, but many are unable to do so for a variety of reasons, including lack of knowledge about cutting-edge technology and significant technical costs. It has frequently been noted that paddy diseases are challenging to manage because their prevalence varies depending on the environment.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3955" y="698561"/>
            <a:ext cx="66353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THE PROJECT</a:t>
            </a:r>
            <a:endParaRPr lang="en-IN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4114800" y="8395855"/>
            <a:ext cx="7024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</a:t>
            </a:r>
            <a:endParaRPr lang="en-I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844673" y="1605768"/>
            <a:ext cx="4509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Sample Gantt Chart</a:t>
            </a:r>
            <a:endParaRPr lang="en-IN" sz="2400" dirty="0"/>
          </a:p>
        </p:txBody>
      </p:sp>
      <p:sp>
        <p:nvSpPr>
          <p:cNvPr id="5" name="Date Placeholder 1"/>
          <p:cNvSpPr>
            <a:spLocks noGrp="1"/>
          </p:cNvSpPr>
          <p:nvPr/>
        </p:nvSpPr>
        <p:spPr>
          <a:xfrm>
            <a:off x="1772921" y="9816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1371600" rtl="0" eaLnBrk="1" latinLnBrk="0" hangingPunct="1">
              <a:defRPr sz="13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October 16,2025</a:t>
            </a:r>
            <a:endParaRPr lang="en-US" dirty="0"/>
          </a:p>
          <a:p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/>
        </p:nvSpPr>
        <p:spPr>
          <a:xfrm>
            <a:off x="5656278" y="9816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371600" rtl="0" eaLnBrk="1" latinLnBrk="0" hangingPunct="1">
              <a:defRPr sz="135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Slide Number Placeholder 3"/>
          <p:cNvSpPr>
            <a:spLocks noGrp="1"/>
          </p:cNvSpPr>
          <p:nvPr/>
        </p:nvSpPr>
        <p:spPr>
          <a:xfrm>
            <a:off x="14977688" y="9816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71600" rtl="0" eaLnBrk="1" latinLnBrk="0" hangingPunct="1">
              <a:defRPr sz="1575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11" name="TextBox 9"/>
          <p:cNvSpPr txBox="1"/>
          <p:nvPr/>
        </p:nvSpPr>
        <p:spPr>
          <a:xfrm>
            <a:off x="3619198" y="69861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THE PROJECT</a:t>
            </a:r>
            <a:endParaRPr lang="en-IN" sz="3600" dirty="0"/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38288"/>
            <a:ext cx="10815629" cy="6457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7755" y="347641"/>
            <a:ext cx="17739300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55363" y="1342796"/>
            <a:ext cx="1579277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important agricultural procedures is the classification and identification of paddy plant diseases at an early stage.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disorder </a:t>
            </a:r>
            <a:r>
              <a:rPr lang="en-IN" sz="2800" dirty="0">
                <a:latin typeface="Calibri body"/>
                <a:cs typeface="Times New Roman" panose="02020603050405020304" pitchFamily="18" charset="0"/>
              </a:rPr>
              <a:t>infection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causes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to lose a lot of money every year. Consequently, a prompt, accurate, and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the illness both reduces product loss and raises product qua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ity.As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result, it contributes to the growth of the nation’s economy.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conventional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procedures, the diagnosis of these diseases is based either on the pathogens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symptoms or on pathogen identification in a lab.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evaluation of the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area is a subjective matter that may not provide a reliable diagnosis.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hand, pathogen growing takes time and can fail to produce results when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needed, making pathogen identification in a lab a laborious operation. We looked at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pictures of several plant diseases.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53667" y="576241"/>
            <a:ext cx="16861497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55962" y="2326406"/>
          <a:ext cx="16957964" cy="4387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9491"/>
                <a:gridCol w="4239491"/>
                <a:gridCol w="4239491"/>
                <a:gridCol w="4239491"/>
              </a:tblGrid>
              <a:tr h="1735991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Author’s Name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Paper name and</a:t>
                      </a:r>
                      <a:r>
                        <a:rPr lang="en-IN" sz="3200" baseline="0" dirty="0"/>
                        <a:t> publication details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Year </a:t>
                      </a:r>
                      <a:r>
                        <a:rPr lang="en-IN" sz="3200" baseline="0" dirty="0"/>
                        <a:t> of publication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Main content of the paper</a:t>
                      </a:r>
                      <a:endParaRPr lang="en-IN" sz="3200" dirty="0"/>
                    </a:p>
                  </a:txBody>
                  <a:tcPr/>
                </a:tc>
              </a:tr>
              <a:tr h="818396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err="1"/>
                        <a:t>Houda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Orchi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Papers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Automation of crop disease detection through CNN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</a:tr>
              <a:tr h="818396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Vinay Gautam</a:t>
                      </a:r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Papers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Disease detection in rice leaves using transfer learning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90600" y="2139373"/>
          <a:ext cx="16816953" cy="2967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777"/>
                <a:gridCol w="4200777"/>
                <a:gridCol w="4200777"/>
                <a:gridCol w="4214622"/>
              </a:tblGrid>
              <a:tr h="81839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Alice Brown, Michael Lee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IEEE Papers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2020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transfer learning techniques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818396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V </a:t>
                      </a:r>
                      <a:r>
                        <a:rPr lang="en-IN" dirty="0" err="1"/>
                        <a:t>Malathi</a:t>
                      </a:r>
                      <a:endParaRPr lang="en-IN" dirty="0"/>
                    </a:p>
                    <a:p>
                      <a:endParaRPr lang="en-IN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IEEE Papers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2021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Classification of pest detection in paddy crop based on transfer learning model</a:t>
                      </a:r>
                      <a:endParaRPr lang="en-IN" dirty="0"/>
                    </a:p>
                    <a:p>
                      <a:endParaRPr lang="en-IN" b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45279" y="285296"/>
            <a:ext cx="7853625" cy="8237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METHODOLOGIES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27564" y="2451207"/>
            <a:ext cx="13487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Collection of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of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Algorithm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01060" y="698561"/>
            <a:ext cx="169881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Step:1 Collection of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014" y="2170785"/>
            <a:ext cx="8429786" cy="61778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21136" y="656998"/>
            <a:ext cx="1663168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Processing the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2930" y="1792152"/>
            <a:ext cx="7421508" cy="71232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32855" y="457200"/>
            <a:ext cx="15485872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                                                           Module 2- Mention the algorithm</a:t>
            </a:r>
            <a:endParaRPr lang="en-IN" sz="2800" b="1" dirty="0"/>
          </a:p>
          <a:p>
            <a:endParaRPr lang="en-IN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 : Start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 : As we are using the CNN models we have to choose a dataset first, prepare the dataset for training.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 : Create the training data and assign features and labels ,normalize and convert 16 labels into categorical data.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 : Split x and y for using in CNN models.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 : Give the directories of train and validation datasets for the training model.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Step6 : Save the model for testing.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Step7 : Test the model using the test dataset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Step8 : It gives the output as affected disease name.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Step9 : Stop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78852" y="573871"/>
            <a:ext cx="147815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Using algorithm’s name algorithm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0382" y="1589534"/>
            <a:ext cx="13220053" cy="66306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29532" y="947943"/>
            <a:ext cx="1003708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The output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490" y="2240605"/>
            <a:ext cx="7267575" cy="6734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328" y="2240605"/>
            <a:ext cx="6856924" cy="49360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81890" y="282924"/>
            <a:ext cx="17020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600" dirty="0"/>
          </a:p>
        </p:txBody>
      </p:sp>
      <p:sp>
        <p:nvSpPr>
          <p:cNvPr id="6" name="Rectangle 5"/>
          <p:cNvSpPr/>
          <p:nvPr/>
        </p:nvSpPr>
        <p:spPr>
          <a:xfrm>
            <a:off x="1039091" y="1703338"/>
            <a:ext cx="9144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–Flow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Diagram(If applicable)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E-R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8764" y="768927"/>
            <a:ext cx="165215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Architecture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16" descr="Screenshot 2024-03-06 224956"/>
          <p:cNvPicPr>
            <a:picLocks noChangeAspect="1"/>
          </p:cNvPicPr>
          <p:nvPr/>
        </p:nvPicPr>
        <p:blipFill>
          <a:blip r:embed="rId1"/>
          <a:srcRect t="16080"/>
          <a:stretch>
            <a:fillRect/>
          </a:stretch>
        </p:blipFill>
        <p:spPr>
          <a:xfrm>
            <a:off x="1490938" y="2028874"/>
            <a:ext cx="14947265" cy="58635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74378" y="594652"/>
            <a:ext cx="170148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Data –Flow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 descr="Screenshot 2024-03-06 2256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905" y="1891593"/>
            <a:ext cx="5523230" cy="58019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881254" y="407892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 Case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Screenshot 2024-03-06 2300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455" y="1489764"/>
            <a:ext cx="9312275" cy="7346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82491" y="352734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Class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044" y="1888490"/>
            <a:ext cx="10953115" cy="65100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49982" y="470452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Activity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13" descr="Screenshot 2024-03-06 2307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843" y="1905296"/>
            <a:ext cx="4334753" cy="64764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05745" y="463478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Sequence Diagram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10" descr="Screenshot 2024-03-06 231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640" y="1869757"/>
            <a:ext cx="15396210" cy="65474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03482" y="387187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E-R Diagram 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Fig.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910" y="1876191"/>
            <a:ext cx="10738211" cy="555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26527" y="539280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Collaboration Diagram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Screenshot 2024-03-06 231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51" y="1812290"/>
            <a:ext cx="16043275" cy="66624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D917-16EA-4D69-8845-9832B0C2F6AA}" type="datetime4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63686" y="469961"/>
            <a:ext cx="95757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REFERENCES</a:t>
            </a:r>
            <a:endParaRPr lang="en-IN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3291" y="2078182"/>
            <a:ext cx="17373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 algn="l">
              <a:buFont typeface="+mj-lt"/>
              <a:buAutoNum type="arabicPeriod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Houda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Orchi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al.,”Automation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Crop Disease Detection through Conven_x0002_tional Machine Learning and Deep Transfer Learning Approaches ”.,vol.13(2),pp.352,2023.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Hatem et al .,” A Transfer Learning-Based Artificial Intelligence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for Leaf Disease Assessment”, Vol. 29, No. 2, pp. 1030-1038, February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Vinay Gautam et al .,“Disease detection in rice leaves using transfer learning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”.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vol.14(20), no.13610,2022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Sunu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Jatmika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al.,” Rice Plants Disease Identification Using Deep Learning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Convolutional Neural Network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Method“.,Vol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7, No 2, July 2022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endParaRPr lang="en-US" alt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l">
              <a:buFont typeface="+mj-lt"/>
              <a:buAutoNum type="arabicPeriod"/>
            </a:pP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 J et.al” Deep Learning-Based Leaf Disease Detection in Crops Using Images for Agricultural Applications “., vol.12, pp.2395,2022.</a:t>
            </a:r>
            <a:endParaRPr lang="en-US" alt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34547" y="3345873"/>
            <a:ext cx="459278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IN" sz="5400" b="1" spc="50" dirty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spc="5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 descr="C:\Users\Sharad\Desktop\download veltech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668264" y="6982691"/>
            <a:ext cx="4295554" cy="1438275"/>
          </a:xfrm>
          <a:prstGeom prst="rect">
            <a:avLst/>
          </a:prstGeom>
          <a:noFill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COMPUTER SCIENCE &amp; ENGINEERING  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DIFFERENT TYPES OF PADDY DISEASES USING DEEP LEARNING</a:t>
            </a:r>
            <a:endParaRPr lang="en-IN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F4A3-E32D-4520-B9BC-6787D8D72445}" type="datetime4">
              <a:rPr lang="en-US" smtClean="0"/>
            </a:fld>
            <a:endParaRPr lang="en-US"/>
          </a:p>
        </p:txBody>
      </p:sp>
      <p:pic>
        <p:nvPicPr>
          <p:cNvPr id="12" name="Picture 2" descr="C:\Users\Sharad\Desktop\Logo-Final-A vel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49323" y="7193392"/>
            <a:ext cx="1160907" cy="12232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8857</Words>
  <Application>WPS Presentation</Application>
  <PresentationFormat>Custom</PresentationFormat>
  <Paragraphs>359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Arial</vt:lpstr>
      <vt:lpstr>Times New Roman</vt:lpstr>
      <vt:lpstr>Calibri</vt:lpstr>
      <vt:lpstr>Calibri body</vt:lpstr>
      <vt:lpstr>Microsoft YaHei</vt:lpstr>
      <vt:lpstr>Arial Unicode MS</vt:lpstr>
      <vt:lpstr>Calibri Light</vt:lpstr>
      <vt:lpstr>Retrospect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Sharad</dc:creator>
  <cp:lastModifiedBy>yaswanth</cp:lastModifiedBy>
  <cp:revision>21</cp:revision>
  <dcterms:created xsi:type="dcterms:W3CDTF">2025-10-24T10:58:10Z</dcterms:created>
  <dcterms:modified xsi:type="dcterms:W3CDTF">2025-10-24T11:03:56Z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845C6469BD454C7F9B69033B72ACA354_13</vt:lpwstr>
  </property>
  <property fmtid="{D5CDD505-2E9C-101B-9397-08002B2CF9AE}" pid="3" name="KSOProductBuildVer">
    <vt:lpwstr>1033-12.2.0.23131</vt:lpwstr>
  </property>
</Properties>
</file>